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2.xml" ContentType="application/vnd.openxmlformats-officedocument.drawingml.chartshape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73" r:id="rId8"/>
    <p:sldId id="274" r:id="rId9"/>
    <p:sldId id="275" r:id="rId10"/>
    <p:sldId id="279" r:id="rId11"/>
    <p:sldId id="262" r:id="rId12"/>
    <p:sldId id="276" r:id="rId13"/>
    <p:sldId id="263" r:id="rId14"/>
    <p:sldId id="264" r:id="rId15"/>
    <p:sldId id="277" r:id="rId16"/>
    <p:sldId id="265" r:id="rId17"/>
    <p:sldId id="278" r:id="rId18"/>
    <p:sldId id="266" r:id="rId19"/>
    <p:sldId id="267" r:id="rId20"/>
    <p:sldId id="268" r:id="rId21"/>
    <p:sldId id="269" r:id="rId22"/>
    <p:sldId id="270" r:id="rId23"/>
    <p:sldId id="271" r:id="rId24"/>
    <p:sldId id="27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80" autoAdjust="0"/>
    <p:restoredTop sz="94660"/>
  </p:normalViewPr>
  <p:slideViewPr>
    <p:cSldViewPr snapToGrid="0">
      <p:cViewPr varScale="1">
        <p:scale>
          <a:sx n="83" d="100"/>
          <a:sy n="83" d="100"/>
        </p:scale>
        <p:origin x="298" y="-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HAS\Downloads\f667cb3a1a7640b69041410df44b2774\Zomato_submission\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Newton%20Project\Excel%20Project\Zomato%20Project\Zomato_Data_1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Newton%20Project\Excel%20Project\Zomato%20Project\Zomato_Data_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Newton%20Project\Excel%20Project\Zomato%20Project\Zomato_Data_1.xlsx" TargetMode="Externa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2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Newton%20Project\Excel%20Project\Zomato%20Project\Zomato_Data_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[Data.xlsx]Pivot_table!PivotTable10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Restaurants</a:t>
            </a:r>
            <a:r>
              <a:rPr lang="en-US" sz="1800" b="1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Count</a:t>
            </a: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45083333333333336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Pivot_table!$B$272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Pivot_table!$A$273:$A$288</c:f>
              <c:strCache>
                <c:ptCount val="15"/>
                <c:pt idx="0">
                  <c:v>India</c:v>
                </c:pt>
                <c:pt idx="1">
                  <c:v>United States of America</c:v>
                </c:pt>
                <c:pt idx="2">
                  <c:v>United Kingdom</c:v>
                </c:pt>
                <c:pt idx="3">
                  <c:v>Brazil</c:v>
                </c:pt>
                <c:pt idx="4">
                  <c:v>South Africa</c:v>
                </c:pt>
                <c:pt idx="5">
                  <c:v>United Arab Emirates</c:v>
                </c:pt>
                <c:pt idx="6">
                  <c:v>New Zealand</c:v>
                </c:pt>
                <c:pt idx="7">
                  <c:v>Turkey</c:v>
                </c:pt>
                <c:pt idx="8">
                  <c:v>Australia</c:v>
                </c:pt>
                <c:pt idx="9">
                  <c:v>Philippines</c:v>
                </c:pt>
                <c:pt idx="10">
                  <c:v>Indonesia</c:v>
                </c:pt>
                <c:pt idx="11">
                  <c:v>Sri Lanka</c:v>
                </c:pt>
                <c:pt idx="12">
                  <c:v>Singapore</c:v>
                </c:pt>
                <c:pt idx="13">
                  <c:v>Qatar</c:v>
                </c:pt>
                <c:pt idx="14">
                  <c:v>Canada</c:v>
                </c:pt>
              </c:strCache>
            </c:strRef>
          </c:cat>
          <c:val>
            <c:numRef>
              <c:f>Pivot_table!$B$273:$B$288</c:f>
              <c:numCache>
                <c:formatCode>General</c:formatCode>
                <c:ptCount val="15"/>
                <c:pt idx="0">
                  <c:v>8652</c:v>
                </c:pt>
                <c:pt idx="1">
                  <c:v>425</c:v>
                </c:pt>
                <c:pt idx="2">
                  <c:v>80</c:v>
                </c:pt>
                <c:pt idx="3">
                  <c:v>60</c:v>
                </c:pt>
                <c:pt idx="4">
                  <c:v>60</c:v>
                </c:pt>
                <c:pt idx="5">
                  <c:v>60</c:v>
                </c:pt>
                <c:pt idx="6">
                  <c:v>40</c:v>
                </c:pt>
                <c:pt idx="7">
                  <c:v>34</c:v>
                </c:pt>
                <c:pt idx="8">
                  <c:v>24</c:v>
                </c:pt>
                <c:pt idx="9">
                  <c:v>22</c:v>
                </c:pt>
                <c:pt idx="10">
                  <c:v>21</c:v>
                </c:pt>
                <c:pt idx="11">
                  <c:v>20</c:v>
                </c:pt>
                <c:pt idx="12">
                  <c:v>20</c:v>
                </c:pt>
                <c:pt idx="13">
                  <c:v>20</c:v>
                </c:pt>
                <c:pt idx="14">
                  <c:v>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D141-492D-B02C-B9352AA1169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9"/>
        <c:overlap val="16"/>
        <c:axId val="205732240"/>
        <c:axId val="205765160"/>
      </c:barChart>
      <c:catAx>
        <c:axId val="205732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205765160"/>
        <c:crosses val="autoZero"/>
        <c:auto val="1"/>
        <c:lblAlgn val="ctr"/>
        <c:lblOffset val="100"/>
        <c:noMultiLvlLbl val="0"/>
      </c:catAx>
      <c:valAx>
        <c:axId val="2057651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05732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 xmlns:c16r2="http://schemas.microsoft.com/office/drawing/2015/06/chart">
    <c:ext xmlns:c16="http://schemas.microsoft.com/office/drawing/2014/chart" uri="{E28EC0CA-F0BB-4C9C-879D-F8772B89E7AC}">
      <c16:pivotOptions16>
        <c16:showExpandCollapseFieldButtons val="1"/>
      </c16:pivotOptions16>
    </c:ex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[Zomato_Data_1.xlsx]Pivot_table!PivotTable28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en-US" sz="1800" b="1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booking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c:rich>
      </c:tx>
      <c:layout>
        <c:manualLayout>
          <c:xMode val="edge"/>
          <c:yMode val="edge"/>
          <c:x val="0.12818627450980391"/>
          <c:y val="0.1313389123069731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0000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27028023420149405"/>
              <c:y val="5.132084598640187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2384877851806986"/>
              <c:y val="-5.383309594833068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FF0000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27028023420149405"/>
              <c:y val="5.132084598640187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2384877851806986"/>
              <c:y val="-5.383309594833068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FF0000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27028023420149405"/>
              <c:y val="5.132084598640187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2384877851806986"/>
              <c:y val="-5.383309594833068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9429712830013892E-2"/>
          <c:y val="0.2190176906505539"/>
          <c:w val="0.47323432916473668"/>
          <c:h val="0.5635303439999374"/>
        </c:manualLayout>
      </c:layout>
      <c:doughnutChart>
        <c:varyColors val="1"/>
        <c:ser>
          <c:idx val="0"/>
          <c:order val="0"/>
          <c:tx>
            <c:strRef>
              <c:f>Pivot_table!$B$201</c:f>
              <c:strCache>
                <c:ptCount val="1"/>
                <c:pt idx="0">
                  <c:v>Total</c:v>
                </c:pt>
              </c:strCache>
            </c:strRef>
          </c:tx>
          <c:explosion val="22"/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EA0E-480F-A33C-FE0CDA939368}"/>
              </c:ext>
            </c:extLst>
          </c:dPt>
          <c:dPt>
            <c:idx val="1"/>
            <c:bubble3D val="0"/>
            <c:explosion val="2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EA0E-480F-A33C-FE0CDA939368}"/>
              </c:ext>
            </c:extLst>
          </c:dPt>
          <c:dLbls>
            <c:dLbl>
              <c:idx val="0"/>
              <c:layout>
                <c:manualLayout>
                  <c:x val="7.4201790952601418E-2"/>
                  <c:y val="0.11844954356568026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EA0E-480F-A33C-FE0CDA939368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14887525088775669"/>
                  <c:y val="-3.9239884375794294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EA0E-480F-A33C-FE0CDA939368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t" anchorCtr="0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Pivot_table!$A$202:$A$203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Pivot_table!$B$202:$B$203</c:f>
              <c:numCache>
                <c:formatCode>0</c:formatCode>
                <c:ptCount val="2"/>
                <c:pt idx="0">
                  <c:v>8384</c:v>
                </c:pt>
                <c:pt idx="1">
                  <c:v>1158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EA0E-480F-A33C-FE0CDA9393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 xmlns:c16r2="http://schemas.microsoft.com/office/drawing/2015/06/chart">
    <c:ext xmlns:c16="http://schemas.microsoft.com/office/drawing/2014/chart" uri="{E28EC0CA-F0BB-4C9C-879D-F8772B89E7AC}">
      <c16:pivotOptions16>
        <c16:showExpandCollapseFieldButtons val="1"/>
      </c16:pivotOptions16>
    </c:ex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[Zomato_Data_1.xlsx]Pivot_table!PivotTable31</c:name>
    <c:fmtId val="6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  <c:pivotFmt>
        <c:idx val="2"/>
        <c:spPr>
          <a:solidFill>
            <a:srgbClr val="FF0000"/>
          </a:solidFill>
          <a:ln>
            <a:noFill/>
          </a:ln>
          <a:effectLst/>
        </c:spP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FF0000"/>
          </a:solidFill>
          <a:ln>
            <a:noFill/>
          </a:ln>
          <a:effectLst/>
        </c:spPr>
      </c:pivotFmt>
      <c:pivotFmt>
        <c:idx val="5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FF0000"/>
          </a:solidFill>
          <a:ln>
            <a:noFill/>
          </a:ln>
          <a:effectLst/>
        </c:spPr>
      </c:pivotFmt>
      <c:pivotFmt>
        <c:idx val="8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8.7530120630201116E-2"/>
          <c:y val="8.3644743333688432E-2"/>
          <c:w val="0.87716359575656055"/>
          <c:h val="0.704948064486393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Pivot_table!$B$205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2241-4F25-A8BD-9EA2781E0087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241-4F25-A8BD-9EA2781E008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Pivot_table!$A$206:$A$207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Pivot_table!$B$206:$B$207</c:f>
              <c:numCache>
                <c:formatCode>0.00</c:formatCode>
                <c:ptCount val="2"/>
                <c:pt idx="0">
                  <c:v>2.8085520038167937</c:v>
                </c:pt>
                <c:pt idx="1">
                  <c:v>3.4825561312607944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241-4F25-A8BD-9EA2781E00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5762416"/>
        <c:axId val="205763200"/>
      </c:barChart>
      <c:catAx>
        <c:axId val="2057624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Table booking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205763200"/>
        <c:crosses val="autoZero"/>
        <c:auto val="1"/>
        <c:lblAlgn val="ctr"/>
        <c:lblOffset val="100"/>
        <c:noMultiLvlLbl val="0"/>
      </c:catAx>
      <c:valAx>
        <c:axId val="205763200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205762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 xmlns:c16r2="http://schemas.microsoft.com/office/drawing/2015/06/chart">
    <c:ext xmlns:c16="http://schemas.microsoft.com/office/drawing/2014/chart" uri="{E28EC0CA-F0BB-4C9C-879D-F8772B89E7AC}">
      <c16:pivotOptions16>
        <c16:showExpandCollapseFieldButtons val="1"/>
      </c16:pivotOptions16>
    </c:ex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[Zomato_Data_1.xlsx]Pivot_table!PivotTable29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</a:t>
            </a:r>
            <a:r>
              <a:rPr lang="en-US" sz="18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Delivery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2083333333333333"/>
          <c:y val="0.151769409776946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9971469329529243"/>
              <c:y val="1.135718341851220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FF0000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4265335235378032"/>
              <c:y val="0.1192504258943781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FF0000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4265335235378032"/>
              <c:y val="0.1192504258943781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9971469329529243"/>
              <c:y val="1.135718341851220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FF0000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4265335235378032"/>
              <c:y val="0.1192504258943781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9971469329529243"/>
              <c:y val="1.135718341851220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0728732437857031E-2"/>
          <c:y val="0.30004747964878847"/>
          <c:w val="0.46967210900108075"/>
          <c:h val="0.55928843036325837"/>
        </c:manualLayout>
      </c:layout>
      <c:doughnutChart>
        <c:varyColors val="1"/>
        <c:ser>
          <c:idx val="0"/>
          <c:order val="0"/>
          <c:tx>
            <c:strRef>
              <c:f>Pivot_table!$F$202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C9C8-4B65-828A-5199CD2AE30B}"/>
              </c:ext>
            </c:extLst>
          </c:dPt>
          <c:dPt>
            <c:idx val="1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9C8-4B65-828A-5199CD2AE30B}"/>
              </c:ext>
            </c:extLst>
          </c:dPt>
          <c:dLbls>
            <c:dLbl>
              <c:idx val="0"/>
              <c:layout>
                <c:manualLayout>
                  <c:x val="1.2751466728423652E-2"/>
                  <c:y val="0.19221650903699036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C9C8-4B65-828A-5199CD2AE30B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11539736760846071"/>
                  <c:y val="-8.7876648515927802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C9C8-4B65-828A-5199CD2AE30B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Pivot_table!$E$203:$E$204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Pivot_table!$F$203:$F$204</c:f>
              <c:numCache>
                <c:formatCode>0</c:formatCode>
                <c:ptCount val="2"/>
                <c:pt idx="0">
                  <c:v>7091</c:v>
                </c:pt>
                <c:pt idx="1">
                  <c:v>2451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C9C8-4B65-828A-5199CD2AE3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 xmlns:c16r2="http://schemas.microsoft.com/office/drawing/2015/06/chart">
    <c:ext xmlns:c16="http://schemas.microsoft.com/office/drawing/2014/chart" uri="{E28EC0CA-F0BB-4C9C-879D-F8772B89E7AC}">
      <c16:pivotOptions16>
        <c16:showExpandCollapseFieldButtons val="1"/>
      </c16:pivotOptions16>
    </c:ex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[Zomato_Data_1.xlsx]Pivot_table!PivotTable32</c:name>
    <c:fmtId val="3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0000"/>
          </a:solidFill>
          <a:ln>
            <a:noFill/>
          </a:ln>
          <a:effectLst/>
        </c:spPr>
      </c:pivotFmt>
      <c:pivotFmt>
        <c:idx val="2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FF0000"/>
          </a:solidFill>
          <a:ln>
            <a:noFill/>
          </a:ln>
          <a:effectLst/>
        </c:spPr>
      </c:pivotFmt>
      <c:pivotFmt>
        <c:idx val="5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 xmlns:c16r2="http://schemas.microsoft.com/office/drawing/2015/06/chart"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FF0000"/>
          </a:solidFill>
          <a:ln>
            <a:noFill/>
          </a:ln>
          <a:effectLst/>
        </c:spPr>
      </c:pivotFmt>
      <c:pivotFmt>
        <c:idx val="8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6.1111111111111109E-2"/>
          <c:y val="0.19100431300061615"/>
          <c:w val="0.87777777777777777"/>
          <c:h val="0.696868344322024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Pivot_table!$F$205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DFAC-442E-9B9F-F21C0AB8CD5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DFAC-442E-9B9F-F21C0AB8CD5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Pivot_table!$E$206:$E$207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Pivot_table!$F$206:$F$207</c:f>
              <c:numCache>
                <c:formatCode>0.00</c:formatCode>
                <c:ptCount val="2"/>
                <c:pt idx="0">
                  <c:v>2.7528980397687173</c:v>
                </c:pt>
                <c:pt idx="1">
                  <c:v>3.2880048959608361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DFAC-442E-9B9F-F21C0AB8CD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6676888"/>
        <c:axId val="206674928"/>
      </c:barChart>
      <c:catAx>
        <c:axId val="206676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206674928"/>
        <c:crosses val="autoZero"/>
        <c:auto val="1"/>
        <c:lblAlgn val="ctr"/>
        <c:lblOffset val="100"/>
        <c:noMultiLvlLbl val="0"/>
      </c:catAx>
      <c:valAx>
        <c:axId val="206674928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206676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 xmlns:c16r2="http://schemas.microsoft.com/office/drawing/2015/06/chart">
    <c:ext xmlns:c16="http://schemas.microsoft.com/office/drawing/2014/chart" uri="{E28EC0CA-F0BB-4C9C-879D-F8772B89E7AC}">
      <c16:pivotOptions16>
        <c16:showExpandCollapseFieldButtons val="1"/>
      </c16:pivotOptions16>
    </c:ex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0.60056</cdr:x>
      <cdr:y>0.03528</cdr:y>
    </cdr:from>
    <cdr:to>
      <cdr:x>0.93452</cdr:x>
      <cdr:y>0.15092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="" xmlns:a16="http://schemas.microsoft.com/office/drawing/2014/main" id="{C18CEB33-A8D9-687A-60BB-59A238FAB494}"/>
            </a:ext>
          </a:extLst>
        </cdr:cNvPr>
        <cdr:cNvSpPr txBox="1"/>
      </cdr:nvSpPr>
      <cdr:spPr>
        <a:xfrm xmlns:a="http://schemas.openxmlformats.org/drawingml/2006/main">
          <a:off x="3362621" y="105640"/>
          <a:ext cx="1869891" cy="34630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IN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Average Rating</a:t>
          </a:r>
        </a:p>
      </cdr:txBody>
    </cdr:sp>
  </cdr:relSizeAnchor>
  <cdr:relSizeAnchor xmlns:cdr="http://schemas.openxmlformats.org/drawingml/2006/chartDrawing">
    <cdr:from>
      <cdr:x>0.54554</cdr:x>
      <cdr:y>0</cdr:y>
    </cdr:from>
    <cdr:to>
      <cdr:x>0.54554</cdr:x>
      <cdr:y>1</cdr:y>
    </cdr:to>
    <cdr:cxnSp macro="">
      <cdr:nvCxnSpPr>
        <cdr:cNvPr id="4" name="Straight Connector 3">
          <a:extLst xmlns:a="http://schemas.openxmlformats.org/drawingml/2006/main">
            <a:ext uri="{FF2B5EF4-FFF2-40B4-BE49-F238E27FC236}">
              <a16:creationId xmlns="" xmlns:a16="http://schemas.microsoft.com/office/drawing/2014/main" id="{5A6A7962-7DF3-68A9-6B2B-2D62A92F43FB}"/>
            </a:ext>
          </a:extLst>
        </cdr:cNvPr>
        <cdr:cNvCxnSpPr/>
      </cdr:nvCxnSpPr>
      <cdr:spPr>
        <a:xfrm xmlns:a="http://schemas.openxmlformats.org/drawingml/2006/main">
          <a:off x="2826769" y="0"/>
          <a:ext cx="0" cy="4351338"/>
        </a:xfrm>
        <a:prstGeom xmlns:a="http://schemas.openxmlformats.org/drawingml/2006/main" prst="line">
          <a:avLst/>
        </a:prstGeom>
        <a:ln xmlns:a="http://schemas.openxmlformats.org/drawingml/2006/main" w="22225" cmpd="dbl">
          <a:solidFill>
            <a:schemeClr val="tx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0.56025</cdr:x>
      <cdr:y>0</cdr:y>
    </cdr:from>
    <cdr:to>
      <cdr:x>0.56025</cdr:x>
      <cdr:y>1</cdr:y>
    </cdr:to>
    <cdr:cxnSp macro="">
      <cdr:nvCxnSpPr>
        <cdr:cNvPr id="3" name="Straight Connector 2">
          <a:extLst xmlns:a="http://schemas.openxmlformats.org/drawingml/2006/main">
            <a:ext uri="{FF2B5EF4-FFF2-40B4-BE49-F238E27FC236}">
              <a16:creationId xmlns="" xmlns:a16="http://schemas.microsoft.com/office/drawing/2014/main" id="{6E0E9048-7C80-F391-9C92-959346C25E89}"/>
            </a:ext>
          </a:extLst>
        </cdr:cNvPr>
        <cdr:cNvCxnSpPr/>
      </cdr:nvCxnSpPr>
      <cdr:spPr>
        <a:xfrm xmlns:a="http://schemas.openxmlformats.org/drawingml/2006/main">
          <a:off x="2902972" y="0"/>
          <a:ext cx="0" cy="4351338"/>
        </a:xfrm>
        <a:prstGeom xmlns:a="http://schemas.openxmlformats.org/drawingml/2006/main" prst="line">
          <a:avLst/>
        </a:prstGeom>
        <a:ln xmlns:a="http://schemas.openxmlformats.org/drawingml/2006/main" w="15875" cmpd="sng">
          <a:solidFill>
            <a:schemeClr val="tx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0225B-3099-4BCC-8814-DD7C2A07BD3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6BAF-A4D2-445B-8366-4366A7AD5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606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0225B-3099-4BCC-8814-DD7C2A07BD3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6BAF-A4D2-445B-8366-4366A7AD5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696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0225B-3099-4BCC-8814-DD7C2A07BD3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6BAF-A4D2-445B-8366-4366A7AD5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461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0225B-3099-4BCC-8814-DD7C2A07BD3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6BAF-A4D2-445B-8366-4366A7AD5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772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0225B-3099-4BCC-8814-DD7C2A07BD3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6BAF-A4D2-445B-8366-4366A7AD5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763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0225B-3099-4BCC-8814-DD7C2A07BD3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6BAF-A4D2-445B-8366-4366A7AD5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986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0225B-3099-4BCC-8814-DD7C2A07BD3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6BAF-A4D2-445B-8366-4366A7AD5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467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0225B-3099-4BCC-8814-DD7C2A07BD3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6BAF-A4D2-445B-8366-4366A7AD5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466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0225B-3099-4BCC-8814-DD7C2A07BD3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6BAF-A4D2-445B-8366-4366A7AD5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383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0225B-3099-4BCC-8814-DD7C2A07BD3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6BAF-A4D2-445B-8366-4366A7AD5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70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0225B-3099-4BCC-8814-DD7C2A07BD3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6BAF-A4D2-445B-8366-4366A7AD5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34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0225B-3099-4BCC-8814-DD7C2A07BD3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76BAF-A4D2-445B-8366-4366A7AD5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775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16D98F2B-21AF-26EB-DD23-188F98FD8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951" y="989013"/>
            <a:ext cx="4309909" cy="123394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Zomato Restaurant Analysis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="" xmlns:a16="http://schemas.microsoft.com/office/drawing/2014/main" id="{62F1844A-31E1-32EB-EA06-CC3C19383D4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61" r="16861"/>
          <a:stretch>
            <a:fillRect/>
          </a:stretch>
        </p:blipFill>
        <p:spPr>
          <a:xfrm>
            <a:off x="5183188" y="835743"/>
            <a:ext cx="6241896" cy="5025308"/>
          </a:xfrm>
        </p:spPr>
      </p:pic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D83E1046-76CC-84B5-3633-C136B7659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72143" y="5187298"/>
            <a:ext cx="1760526" cy="742120"/>
          </a:xfrm>
        </p:spPr>
        <p:txBody>
          <a:bodyPr>
            <a:normAutofit fontScale="92500" lnSpcReduction="20000"/>
          </a:bodyPr>
          <a:lstStyle/>
          <a:p>
            <a:r>
              <a:rPr lang="en-I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Arvind</a:t>
            </a:r>
            <a:endParaRPr lang="en-I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Chaurasiya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162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0D6FF26C-2174-E704-8164-9B04F4B1A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5766DD83-E82F-F8D8-407C-38AE5FCA9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Zomato is a leading food-tech company that connects users with restaurants for dining, delivery, and table reservations. </a:t>
            </a:r>
          </a:p>
          <a:p>
            <a:r>
              <a:rPr lang="en-GB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Initially a restaurant discovery platform, it evolved into a comprehensive service catering to both customers and restaurant partners. </a:t>
            </a:r>
          </a:p>
          <a:p>
            <a:r>
              <a:rPr lang="en-GB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The company enables users to browse menus, read reviews, order food, and even book tables, simplifying the dining experience. </a:t>
            </a:r>
          </a:p>
          <a:p>
            <a:r>
              <a:rPr lang="en-GB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Over time, Zomato expanded its operations to multiple countries, offering diverse cuisine options and supporting local food businesses.</a:t>
            </a:r>
          </a:p>
          <a:p>
            <a:r>
              <a:rPr lang="en-GB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Competing with major players in the industry, Zomato continues to innovate by improving accessibility, affordability, and food quality, making it a key player in the online food ecosystem</a:t>
            </a:r>
            <a:endParaRPr lang="en-IN" sz="20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334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19F4898-4D07-5BA3-BBC0-A62659B46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25F1F9F-2D1D-33CA-8916-4BBB9AD31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7797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Zomato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expansion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is focused on identifying high-potential markets and driving the successful launch of new restaurant locations across strategic geographies. The core objective of this initiative is not just to increase footprint, but to build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profitable, sustainable outlets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align with customer demand patterns and local market dynamics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task involves developing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strategies and actionable recommendations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opening new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732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8D73A24-3D65-71A8-9CE7-216DEA248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3496"/>
            <a:ext cx="10515600" cy="795081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156E8A9-C732-686D-54A4-4D76C5FF2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5606"/>
            <a:ext cx="10515600" cy="917371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includes two tables—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RawData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Description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—containing a total of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 combined attributes,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Those are: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1C2247D-4ECD-F667-C06C-0E1D05EBFA1E}"/>
              </a:ext>
            </a:extLst>
          </p:cNvPr>
          <p:cNvSpPr txBox="1"/>
          <p:nvPr/>
        </p:nvSpPr>
        <p:spPr>
          <a:xfrm>
            <a:off x="1327355" y="1992977"/>
            <a:ext cx="3392130" cy="3170099"/>
          </a:xfrm>
          <a:prstGeom prst="rect">
            <a:avLst/>
          </a:prstGeom>
          <a:noFill/>
        </p:spPr>
        <p:txBody>
          <a:bodyPr wrap="square" numCol="1" spcCol="72000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Locality Verbose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Lattitude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Cuisines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DCA7AE22-8108-FC13-2AD3-AEA920E1E343}"/>
              </a:ext>
            </a:extLst>
          </p:cNvPr>
          <p:cNvSpPr txBox="1"/>
          <p:nvPr/>
        </p:nvSpPr>
        <p:spPr>
          <a:xfrm>
            <a:off x="6340577" y="1992976"/>
            <a:ext cx="3392130" cy="3477875"/>
          </a:xfrm>
          <a:prstGeom prst="rect">
            <a:avLst/>
          </a:prstGeom>
          <a:noFill/>
        </p:spPr>
        <p:txBody>
          <a:bodyPr wrap="square" numCol="1" spcCol="72000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Has_Table_booking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Has_Online_Delivery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Is_Delivering_now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Switch_to_order_menu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Price_Range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Average_cost_for_two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Date_key_opening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957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0D7A0DC-FC6E-645B-2680-1D7094960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471"/>
            <a:ext cx="10515600" cy="91394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AA02AF1-058E-F454-1A2C-E9305F27E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4839"/>
            <a:ext cx="10515600" cy="5727290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Handled missing values, checked duplicates &amp; format</a:t>
            </a: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date components, mapped country codes, unified currency to INR.</a:t>
            </a: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Excel functions &amp; pivot tables; aggregated by country, year &amp; rating; examined impact of online delivery &amp; table booking on ratings.</a:t>
            </a:r>
          </a:p>
          <a:p>
            <a:pPr marL="457200" lvl="1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conditional formatting; created charts &amp; dashboards for insights.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509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55F5AB-3548-A574-C1AD-B932AF9C8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374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Key Metrics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DF7764F-8663-7312-7186-5F1126E46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12206"/>
            <a:ext cx="10515600" cy="3880668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9542 restaurants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represented in the data 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restaurants serve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1825 different cuisines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overall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all the restaurant is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2.9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number of votes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received per restaurant across the dataset is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156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Cost for 2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as per the entire dataset is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Rs.934.39.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7A284779-25E4-EF5E-27EB-C951791EF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60" y="1396182"/>
            <a:ext cx="9120192" cy="9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837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9502D823-5B48-CA9C-D7C1-FEA951F20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304" y="294967"/>
            <a:ext cx="5403696" cy="71038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Year-wise Restaurant Count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2EABE3F4-0667-5072-D54C-087D3306C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304" y="4824190"/>
            <a:ext cx="11352213" cy="3811587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average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number of restaurants opened per year for the last 8 years is </a:t>
            </a: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1061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However, </a:t>
            </a: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2018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has the most restaurants opened i.e. </a:t>
            </a: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1102 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2012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has the least opening of restaurants with </a:t>
            </a: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1022.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is an increase of </a:t>
            </a: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2.13%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on restaurants opened from the year 2010 to 2018.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1DC4F783-D749-44A9-11DC-EBDBA606E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232" y="1005349"/>
            <a:ext cx="6744929" cy="359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389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C0D82F1-04B8-9599-D2A2-C5074C180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814" y="191729"/>
            <a:ext cx="5492186" cy="801329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wise Average Raing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EF45BB4A-AB6D-F8DF-0AA5-AC2048E69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6902" y="5421040"/>
            <a:ext cx="11588186" cy="12252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Charts shows the average rating for each country.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average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rating for the entire data is 2.89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However, </a:t>
            </a:r>
            <a:r>
              <a:rPr lang="en-IN" sz="20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Philippines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has the most average rating i.e. </a:t>
            </a:r>
            <a:r>
              <a:rPr lang="en-IN" sz="20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4.47</a:t>
            </a: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India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has the least rating of </a:t>
            </a: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2.77.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C2D84A18-7961-27AB-1C80-0EEF68866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988" y="1203803"/>
            <a:ext cx="7521676" cy="413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056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69DD08D-7DCD-8F6C-4D99-87C224145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6634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Cuisines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AAC96EC1-0FB3-D74C-D97A-B7C7D972C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32" y="1722872"/>
            <a:ext cx="6204155" cy="38323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08C9F4D-B930-C233-1402-3289643F4CE0}"/>
              </a:ext>
            </a:extLst>
          </p:cNvPr>
          <p:cNvSpPr txBox="1"/>
          <p:nvPr/>
        </p:nvSpPr>
        <p:spPr>
          <a:xfrm>
            <a:off x="2418405" y="5921522"/>
            <a:ext cx="8397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above chart highlights the ten cuisines with the highest average ratings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242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A47A0F41-AE4A-B553-B640-5349C395F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432" y="1297860"/>
            <a:ext cx="7177549" cy="43065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45102D1F-C1E1-357A-31A5-9FEA33ADD090}"/>
              </a:ext>
            </a:extLst>
          </p:cNvPr>
          <p:cNvSpPr txBox="1"/>
          <p:nvPr/>
        </p:nvSpPr>
        <p:spPr>
          <a:xfrm>
            <a:off x="2259182" y="5906879"/>
            <a:ext cx="8524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above chart highlights the ten restaurants with the highest average ratings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="" xmlns:a16="http://schemas.microsoft.com/office/drawing/2014/main" id="{43483D00-088F-7EA5-8E9C-225E7158D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871" y="115813"/>
            <a:ext cx="10515600" cy="1182046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Restaurants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558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D7D5241D-E9DC-9EDD-116B-7C6FEFCAC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627" y="231058"/>
            <a:ext cx="5452857" cy="76200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wise Restaurant Count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8ECD861B-9A4A-ADD7-B993-93FE82BDD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0626" y="5281578"/>
            <a:ext cx="10103515" cy="212456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Plotted chart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wise Restaurant Count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accounted for the highest number of restaurants, making up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91.5%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total compared to other countries.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Canada has the least with only 4 restaurants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="" xmlns:a16="http://schemas.microsoft.com/office/drawing/2014/main" id="{6AFE8C89-5961-9DA1-4F4C-A748354039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3715065"/>
              </p:ext>
            </p:extLst>
          </p:nvPr>
        </p:nvGraphicFramePr>
        <p:xfrm>
          <a:off x="1369736" y="1383488"/>
          <a:ext cx="8433026" cy="34290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52206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="" xmlns:a16="http://schemas.microsoft.com/office/drawing/2014/main" id="{B3867BCA-5FB3-30CB-CDFB-A821EF027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5417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wise Average Cost for two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860C6168-E14E-9548-1B00-FFCF9758F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019" y="973394"/>
            <a:ext cx="8160775" cy="3808959"/>
          </a:xfrm>
          <a:prstGeom prst="rect">
            <a:avLst/>
          </a:prstGeom>
        </p:spPr>
      </p:pic>
      <p:sp>
        <p:nvSpPr>
          <p:cNvPr id="10" name="Text Placeholder 5">
            <a:extLst>
              <a:ext uri="{FF2B5EF4-FFF2-40B4-BE49-F238E27FC236}">
                <a16:creationId xmlns="" xmlns:a16="http://schemas.microsoft.com/office/drawing/2014/main" id="{5923B75A-96B1-52C6-1746-07F731D63D1A}"/>
              </a:ext>
            </a:extLst>
          </p:cNvPr>
          <p:cNvSpPr txBox="1">
            <a:spLocks/>
          </p:cNvSpPr>
          <p:nvPr/>
        </p:nvSpPr>
        <p:spPr>
          <a:xfrm>
            <a:off x="838200" y="5144730"/>
            <a:ext cx="10097729" cy="23277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Plotted chart represents Average cost for 2 in INR for each country</a:t>
            </a:r>
          </a:p>
          <a:p>
            <a:pPr marL="285750" indent="-28575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Qutar accounted highest average cost for two of  Rs.49,641</a:t>
            </a:r>
          </a:p>
          <a:p>
            <a:pPr marL="285750" indent="-28575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Turkey has the least with only Rs.188.</a:t>
            </a:r>
          </a:p>
        </p:txBody>
      </p:sp>
    </p:spTree>
    <p:extLst>
      <p:ext uri="{BB962C8B-B14F-4D97-AF65-F5344CB8AC3E}">
        <p14:creationId xmlns:p14="http://schemas.microsoft.com/office/powerpoint/2010/main" val="2516739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98E4CA-7AEE-2116-B15E-E35847E30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1391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 of countries for expanding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C22CEF7-B2A0-6AE8-317C-2C6669014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1662"/>
            <a:ext cx="10515600" cy="502121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Restaurants : Max 60 for market control &amp; profitability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City      :  Max 5 for dominance &amp; strong presence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            :  Keep &lt; ₹4000 to boost footfall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Ratings       :  Cities &lt; 3.7 may signal low service but offer growth potential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countries and Cities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Australia</a:t>
            </a:r>
            <a:r>
              <a:rPr lang="en-IN" dirty="0"/>
              <a:t> - 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Flaxton, Paynesville, Montville.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Canada</a:t>
            </a: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 – Chatham-Kent, Consort, Vineland Station, Yorkton.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Indonesia</a:t>
            </a: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 – Tangerang.</a:t>
            </a:r>
          </a:p>
        </p:txBody>
      </p:sp>
    </p:spTree>
    <p:extLst>
      <p:ext uri="{BB962C8B-B14F-4D97-AF65-F5344CB8AC3E}">
        <p14:creationId xmlns:p14="http://schemas.microsoft.com/office/powerpoint/2010/main" val="444665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D92E353B-F61D-E30D-CC85-712E641E7A75}"/>
              </a:ext>
            </a:extLst>
          </p:cNvPr>
          <p:cNvGrpSpPr/>
          <p:nvPr/>
        </p:nvGrpSpPr>
        <p:grpSpPr>
          <a:xfrm>
            <a:off x="1828800" y="1266401"/>
            <a:ext cx="7024644" cy="3254324"/>
            <a:chOff x="3199443" y="1290851"/>
            <a:chExt cx="3681176" cy="2328098"/>
          </a:xfrm>
        </p:grpSpPr>
        <p:pic>
          <p:nvPicPr>
            <p:cNvPr id="5" name="Picture 4">
              <a:extLst>
                <a:ext uri="{FF2B5EF4-FFF2-40B4-BE49-F238E27FC236}">
                  <a16:creationId xmlns="" xmlns:a16="http://schemas.microsoft.com/office/drawing/2014/main" id="{F8FD7371-460A-3DDA-E4A4-9FA5D4481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99443" y="1290851"/>
              <a:ext cx="3681176" cy="232809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68634702-EA42-706A-C7FE-89482E563EE1}"/>
                </a:ext>
              </a:extLst>
            </p:cNvPr>
            <p:cNvSpPr txBox="1"/>
            <p:nvPr/>
          </p:nvSpPr>
          <p:spPr>
            <a:xfrm>
              <a:off x="4111963" y="1369454"/>
              <a:ext cx="25563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Restaurant count</a:t>
              </a:r>
            </a:p>
          </p:txBody>
        </p:sp>
      </p:grpSp>
      <p:sp>
        <p:nvSpPr>
          <p:cNvPr id="15" name="Text Placeholder 7">
            <a:extLst>
              <a:ext uri="{FF2B5EF4-FFF2-40B4-BE49-F238E27FC236}">
                <a16:creationId xmlns="" xmlns:a16="http://schemas.microsoft.com/office/drawing/2014/main" id="{E0D7CB8C-7548-0455-A612-653D65C764EE}"/>
              </a:ext>
            </a:extLst>
          </p:cNvPr>
          <p:cNvSpPr txBox="1">
            <a:spLocks/>
          </p:cNvSpPr>
          <p:nvPr/>
        </p:nvSpPr>
        <p:spPr>
          <a:xfrm>
            <a:off x="330739" y="4520725"/>
            <a:ext cx="11051458" cy="21381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Country-wise restaurant distribution highlights ideal expansion opportunities, assesses competition, and supports data-driven growth decisions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Canada has the least restaurant count.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 Zealand having the most Restaurant Count.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6437D063-D9FE-A8A0-8BF3-37FF72808699}"/>
              </a:ext>
            </a:extLst>
          </p:cNvPr>
          <p:cNvSpPr txBox="1"/>
          <p:nvPr/>
        </p:nvSpPr>
        <p:spPr>
          <a:xfrm>
            <a:off x="330739" y="354785"/>
            <a:ext cx="5788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</p:txBody>
      </p:sp>
    </p:spTree>
    <p:extLst>
      <p:ext uri="{BB962C8B-B14F-4D97-AF65-F5344CB8AC3E}">
        <p14:creationId xmlns:p14="http://schemas.microsoft.com/office/powerpoint/2010/main" val="630336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6E0F27B-44D8-7457-B382-B6BBAF1FC1BB}"/>
              </a:ext>
            </a:extLst>
          </p:cNvPr>
          <p:cNvSpPr txBox="1"/>
          <p:nvPr/>
        </p:nvSpPr>
        <p:spPr>
          <a:xfrm>
            <a:off x="1075921" y="280220"/>
            <a:ext cx="5788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70B955F2-C48B-DC8D-3831-5EB9EAE25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146" y="1247645"/>
            <a:ext cx="6982762" cy="3192688"/>
          </a:xfrm>
          <a:prstGeom prst="rect">
            <a:avLst/>
          </a:prstGeom>
        </p:spPr>
      </p:pic>
      <p:sp>
        <p:nvSpPr>
          <p:cNvPr id="6" name="Text Placeholder 7">
            <a:extLst>
              <a:ext uri="{FF2B5EF4-FFF2-40B4-BE49-F238E27FC236}">
                <a16:creationId xmlns="" xmlns:a16="http://schemas.microsoft.com/office/drawing/2014/main" id="{C4779B8E-FABC-C670-542E-9E9746D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7913" y="4544806"/>
            <a:ext cx="10040158" cy="189872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City-to-restaurant ratio analysis aids in identifying ideal expansion countries, market opportunities, and strategic growth decisions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Canada and Australia have the least ratio.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Turkey having the highest ratio.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594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82E70EA-2F8B-BFC6-839F-4E0F98422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756" y="149090"/>
            <a:ext cx="10515600" cy="83441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C6AA3826-8A6A-22B4-4BE3-2D7C8CF619B4}"/>
              </a:ext>
            </a:extLst>
          </p:cNvPr>
          <p:cNvGrpSpPr/>
          <p:nvPr/>
        </p:nvGrpSpPr>
        <p:grpSpPr>
          <a:xfrm>
            <a:off x="1868129" y="1187071"/>
            <a:ext cx="7463878" cy="3145647"/>
            <a:chOff x="3156155" y="1002405"/>
            <a:chExt cx="5078978" cy="4036764"/>
          </a:xfrm>
        </p:grpSpPr>
        <p:pic>
          <p:nvPicPr>
            <p:cNvPr id="5" name="Picture 4">
              <a:extLst>
                <a:ext uri="{FF2B5EF4-FFF2-40B4-BE49-F238E27FC236}">
                  <a16:creationId xmlns="" xmlns:a16="http://schemas.microsoft.com/office/drawing/2014/main" id="{74F059E7-BC5F-6A6A-CAC7-A5F26154D5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56155" y="1371737"/>
              <a:ext cx="5078978" cy="366743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89F5F9E8-52E9-51A6-D632-103D23DE97F3}"/>
                </a:ext>
              </a:extLst>
            </p:cNvPr>
            <p:cNvSpPr txBox="1"/>
            <p:nvPr/>
          </p:nvSpPr>
          <p:spPr>
            <a:xfrm>
              <a:off x="4407311" y="1002405"/>
              <a:ext cx="2900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Country vs Average rating</a:t>
              </a:r>
            </a:p>
          </p:txBody>
        </p:sp>
      </p:grpSp>
      <p:sp>
        <p:nvSpPr>
          <p:cNvPr id="10" name="Text Placeholder 7">
            <a:extLst>
              <a:ext uri="{FF2B5EF4-FFF2-40B4-BE49-F238E27FC236}">
                <a16:creationId xmlns="" xmlns:a16="http://schemas.microsoft.com/office/drawing/2014/main" id="{D686A5EF-6F10-E824-2171-F13F95A8524A}"/>
              </a:ext>
            </a:extLst>
          </p:cNvPr>
          <p:cNvSpPr txBox="1">
            <a:spLocks/>
          </p:cNvSpPr>
          <p:nvPr/>
        </p:nvSpPr>
        <p:spPr>
          <a:xfrm>
            <a:off x="529540" y="4705254"/>
            <a:ext cx="10803194" cy="1763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 Country-wise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 analysis helps identify optimal expansion markets, assess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competition and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 strategic growth decisions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 India having the least Average rating .</a:t>
            </a:r>
          </a:p>
          <a:p>
            <a:pPr lvl="1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 Australia  having the most Average rating.</a:t>
            </a:r>
          </a:p>
          <a:p>
            <a:pPr lvl="1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893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="" xmlns:a16="http://schemas.microsoft.com/office/drawing/2014/main" id="{CDE17E6D-8220-28AF-157F-94C07E63F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748"/>
            <a:ext cx="10515600" cy="83441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BBEA2003-B8DF-A391-2DE2-4E949DCCDC06}"/>
              </a:ext>
            </a:extLst>
          </p:cNvPr>
          <p:cNvGrpSpPr/>
          <p:nvPr/>
        </p:nvGrpSpPr>
        <p:grpSpPr>
          <a:xfrm>
            <a:off x="2772697" y="1199536"/>
            <a:ext cx="6317225" cy="2987904"/>
            <a:chOff x="8160775" y="1311197"/>
            <a:chExt cx="3558046" cy="2697544"/>
          </a:xfrm>
        </p:grpSpPr>
        <p:pic>
          <p:nvPicPr>
            <p:cNvPr id="7" name="Picture 6">
              <a:extLst>
                <a:ext uri="{FF2B5EF4-FFF2-40B4-BE49-F238E27FC236}">
                  <a16:creationId xmlns="" xmlns:a16="http://schemas.microsoft.com/office/drawing/2014/main" id="{924D5116-618B-A84C-CD2E-EAF3DD273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60775" y="1311197"/>
              <a:ext cx="3558046" cy="269754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0E747806-F2E6-13AE-2ADF-720EBC9557BC}"/>
                </a:ext>
              </a:extLst>
            </p:cNvPr>
            <p:cNvSpPr txBox="1"/>
            <p:nvPr/>
          </p:nvSpPr>
          <p:spPr>
            <a:xfrm>
              <a:off x="8332840" y="1323180"/>
              <a:ext cx="2900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Country vs Avg_cost_for_2</a:t>
              </a:r>
            </a:p>
          </p:txBody>
        </p:sp>
      </p:grpSp>
      <p:sp>
        <p:nvSpPr>
          <p:cNvPr id="11" name="Text Placeholder 7">
            <a:extLst>
              <a:ext uri="{FF2B5EF4-FFF2-40B4-BE49-F238E27FC236}">
                <a16:creationId xmlns="" xmlns:a16="http://schemas.microsoft.com/office/drawing/2014/main" id="{1DAAFE76-18E7-6DAF-7442-808B803E3674}"/>
              </a:ext>
            </a:extLst>
          </p:cNvPr>
          <p:cNvSpPr txBox="1">
            <a:spLocks/>
          </p:cNvSpPr>
          <p:nvPr/>
        </p:nvSpPr>
        <p:spPr>
          <a:xfrm>
            <a:off x="744196" y="4410780"/>
            <a:ext cx="10832690" cy="1904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Country-wise average cost analysis helps identify ideal expansion markets, evaluate competition, and support strategic growth decisions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United States of America is the most expensive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Turkey is quite affordable.</a:t>
            </a:r>
          </a:p>
        </p:txBody>
      </p:sp>
    </p:spTree>
    <p:extLst>
      <p:ext uri="{BB962C8B-B14F-4D97-AF65-F5344CB8AC3E}">
        <p14:creationId xmlns:p14="http://schemas.microsoft.com/office/powerpoint/2010/main" val="3758765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2180029-A2B4-1F25-626A-51E43491A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723" y="221892"/>
            <a:ext cx="10515600" cy="608268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292C21C3-9001-9F83-AD91-004B74A1B18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187379" y="1086188"/>
            <a:ext cx="4680156" cy="5286836"/>
          </a:xfrm>
        </p:spPr>
      </p:pic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996658F9-49F0-1BF2-1AFF-5C8E1F43C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0160" y="1438428"/>
            <a:ext cx="6757219" cy="5286837"/>
          </a:xfrm>
        </p:spPr>
        <p:txBody>
          <a:bodyPr>
            <a:normAutofit fontScale="25000" lnSpcReduction="20000"/>
          </a:bodyPr>
          <a:lstStyle/>
          <a:p>
            <a:pPr lvl="1" algn="just">
              <a:lnSpc>
                <a:spcPct val="115000"/>
              </a:lnSpc>
              <a:spcAft>
                <a:spcPts val="1000"/>
              </a:spcAft>
            </a:pPr>
            <a:r>
              <a:rPr lang="en-IN" sz="8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Australia</a:t>
            </a:r>
            <a:r>
              <a:rPr lang="en-IN" sz="7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45720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6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IN" sz="5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Average order for 2 - 1350</a:t>
            </a:r>
          </a:p>
          <a:p>
            <a:pPr marL="45720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5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Flaxton/Montville: 2000+</a:t>
            </a:r>
          </a:p>
          <a:p>
            <a:pPr marL="45720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5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	Paynesville: 6500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n-IN" sz="80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Canada</a:t>
            </a:r>
          </a:p>
          <a:p>
            <a:pPr marL="45720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5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Order value for two: 2200+   Vineyard Station: 4500+  </a:t>
            </a:r>
          </a:p>
          <a:p>
            <a:pPr marL="45720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5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National rating: 3.5; some cities: ~3, </a:t>
            </a:r>
          </a:p>
          <a:p>
            <a:pPr marL="45720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5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signaling demand for quality food.</a:t>
            </a:r>
          </a:p>
          <a:p>
            <a:pPr lvl="1" algn="just">
              <a:lnSpc>
                <a:spcPct val="115000"/>
              </a:lnSpc>
              <a:spcAft>
                <a:spcPts val="1000"/>
              </a:spcAft>
            </a:pPr>
            <a:r>
              <a:rPr lang="en-IN" sz="80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Indonesia</a:t>
            </a:r>
          </a:p>
          <a:p>
            <a:pPr marL="45720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5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Jakarta hosts 65% of restaurants (city-to-restaurant ratio: 5), while other cities 	average 2 per location. </a:t>
            </a:r>
          </a:p>
          <a:p>
            <a:pPr marL="457200" lvl="1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5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Tangerang’s AOV for two: 1300; 4-star rating suggests better food could boost 	AOV.</a:t>
            </a:r>
            <a:endParaRPr lang="en-IN" sz="5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CCFF04D-1940-72F2-C802-1C958481083D}"/>
              </a:ext>
            </a:extLst>
          </p:cNvPr>
          <p:cNvSpPr txBox="1"/>
          <p:nvPr/>
        </p:nvSpPr>
        <p:spPr>
          <a:xfrm>
            <a:off x="779206" y="830160"/>
            <a:ext cx="2871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selection</a:t>
            </a:r>
          </a:p>
        </p:txBody>
      </p:sp>
    </p:spTree>
    <p:extLst>
      <p:ext uri="{BB962C8B-B14F-4D97-AF65-F5344CB8AC3E}">
        <p14:creationId xmlns:p14="http://schemas.microsoft.com/office/powerpoint/2010/main" val="708497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83D34B-70DA-2CF9-2A7B-B4C783C7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7597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Cuisine Selection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="" xmlns:a16="http://schemas.microsoft.com/office/drawing/2014/main" id="{84B22D85-3E65-BD19-D090-A5F09893C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851904"/>
              </p:ext>
            </p:extLst>
          </p:nvPr>
        </p:nvGraphicFramePr>
        <p:xfrm>
          <a:off x="943897" y="1415845"/>
          <a:ext cx="8691717" cy="31089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070815">
                  <a:extLst>
                    <a:ext uri="{9D8B030D-6E8A-4147-A177-3AD203B41FA5}">
                      <a16:colId xmlns="" xmlns:a16="http://schemas.microsoft.com/office/drawing/2014/main" val="4267303455"/>
                    </a:ext>
                  </a:extLst>
                </a:gridCol>
                <a:gridCol w="3000631">
                  <a:extLst>
                    <a:ext uri="{9D8B030D-6E8A-4147-A177-3AD203B41FA5}">
                      <a16:colId xmlns="" xmlns:a16="http://schemas.microsoft.com/office/drawing/2014/main" val="2850068770"/>
                    </a:ext>
                  </a:extLst>
                </a:gridCol>
                <a:gridCol w="2620271">
                  <a:extLst>
                    <a:ext uri="{9D8B030D-6E8A-4147-A177-3AD203B41FA5}">
                      <a16:colId xmlns="" xmlns:a16="http://schemas.microsoft.com/office/drawing/2014/main" val="3996900550"/>
                    </a:ext>
                  </a:extLst>
                </a:gridCol>
              </a:tblGrid>
              <a:tr h="413533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Australia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Indonesia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45486857"/>
                  </a:ext>
                </a:extLst>
              </a:tr>
              <a:tr h="578946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Pizza - Italian, American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Pizza - Italian, American, Chinese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Sushi, Japanese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81741724"/>
                  </a:ext>
                </a:extLst>
              </a:tr>
              <a:tr h="578946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 Food - Burger, Steak, Desserts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Mediterranean, Seafood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Indonesian, Sunda, Asian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412862759"/>
                  </a:ext>
                </a:extLst>
              </a:tr>
              <a:tr h="578946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Mediterranean, Seafood, Continental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Asian, Sushi, Tapas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Coffee, Tea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929209047"/>
                  </a:ext>
                </a:extLst>
              </a:tr>
              <a:tr h="330826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Modern Australian Breakfast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Italian, Desserts, Burger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410753778"/>
                  </a:ext>
                </a:extLst>
              </a:tr>
              <a:tr h="330826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Coffee, Tea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16151619"/>
                  </a:ext>
                </a:extLst>
              </a:tr>
            </a:tbl>
          </a:graphicData>
        </a:graphic>
      </p:graphicFrame>
      <p:sp>
        <p:nvSpPr>
          <p:cNvPr id="8" name="Content Placeholder 3">
            <a:extLst>
              <a:ext uri="{FF2B5EF4-FFF2-40B4-BE49-F238E27FC236}">
                <a16:creationId xmlns="" xmlns:a16="http://schemas.microsoft.com/office/drawing/2014/main" id="{ECEFA7D6-6023-0DD8-E32A-221296BD41F5}"/>
              </a:ext>
            </a:extLst>
          </p:cNvPr>
          <p:cNvSpPr txBox="1">
            <a:spLocks/>
          </p:cNvSpPr>
          <p:nvPr/>
        </p:nvSpPr>
        <p:spPr>
          <a:xfrm>
            <a:off x="562897" y="5062279"/>
            <a:ext cx="10636045" cy="1243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Adapting recommended cuisines to each country can boost customer feedback, improve ratings, and drive revenue growth, especially in markets with ratings near 4 or above.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53224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530C23E-A25F-6F36-7BEC-7E1EEF737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628"/>
            <a:ext cx="10515600" cy="775417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Table booking feature on rating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="" xmlns:a16="http://schemas.microsoft.com/office/drawing/2014/main" id="{08225D6A-0583-D227-9D51-D70A2771F8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5091920"/>
            <a:ext cx="9977284" cy="1479001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booking boosts restaurant ratings.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Introducing table booking in Australia, Canada, and Indonesia boosts convenience, reliability, and ratings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restaurants do not offer Table booking.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="" xmlns:a16="http://schemas.microsoft.com/office/drawing/2014/main" id="{500C3E35-74F1-20BC-64BE-15120980D21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18726216"/>
              </p:ext>
            </p:extLst>
          </p:nvPr>
        </p:nvGraphicFramePr>
        <p:xfrm>
          <a:off x="2358640" y="1111045"/>
          <a:ext cx="5599148" cy="29946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="" xmlns:a16="http://schemas.microsoft.com/office/drawing/2014/main" id="{99CEAD13-F6EE-1B51-479F-F887C27D41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6293925"/>
              </p:ext>
            </p:extLst>
          </p:nvPr>
        </p:nvGraphicFramePr>
        <p:xfrm>
          <a:off x="5267631" y="1552353"/>
          <a:ext cx="2843981" cy="25624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043179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418AC6-921C-4E5F-CFD0-E45684910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2355"/>
            <a:ext cx="10515600" cy="804914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Online Delivery feature on rating </a:t>
            </a:r>
            <a:endParaRPr lang="en-IN" sz="36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C4BEACA0-E015-4788-CD3A-D62F00F2F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0224" y="4772378"/>
            <a:ext cx="10515599" cy="1670952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delivery improves ratings and customer satisfaction.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Introducing online delivery in Australia, Canada, and Indonesia boosts convenience, reliability, and ratings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Restaurants do not offer online delivery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="" xmlns:a16="http://schemas.microsoft.com/office/drawing/2014/main" id="{5ADDDBCF-C6CA-B8F7-04BD-870B5FFB166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13800827"/>
              </p:ext>
            </p:extLst>
          </p:nvPr>
        </p:nvGraphicFramePr>
        <p:xfrm>
          <a:off x="2691582" y="1351935"/>
          <a:ext cx="5307281" cy="3023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="" xmlns:a16="http://schemas.microsoft.com/office/drawing/2014/main" id="{A357A45A-2781-1C06-2286-E46B7C5673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5701729"/>
              </p:ext>
            </p:extLst>
          </p:nvPr>
        </p:nvGraphicFramePr>
        <p:xfrm>
          <a:off x="5691959" y="1618464"/>
          <a:ext cx="2386783" cy="27137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EAF58B54-A435-BF92-9B2C-23BB6D0D7746}"/>
              </a:ext>
            </a:extLst>
          </p:cNvPr>
          <p:cNvSpPr txBox="1"/>
          <p:nvPr/>
        </p:nvSpPr>
        <p:spPr>
          <a:xfrm>
            <a:off x="5911877" y="1758538"/>
            <a:ext cx="1927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</a:t>
            </a:r>
          </a:p>
        </p:txBody>
      </p:sp>
    </p:spTree>
    <p:extLst>
      <p:ext uri="{BB962C8B-B14F-4D97-AF65-F5344CB8AC3E}">
        <p14:creationId xmlns:p14="http://schemas.microsoft.com/office/powerpoint/2010/main" val="388227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8285FC3-4530-E6CE-D0D2-CEB3A38FF07C}"/>
              </a:ext>
            </a:extLst>
          </p:cNvPr>
          <p:cNvSpPr txBox="1"/>
          <p:nvPr/>
        </p:nvSpPr>
        <p:spPr>
          <a:xfrm>
            <a:off x="108155" y="56096"/>
            <a:ext cx="5043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4272"/>
            <a:ext cx="11967380" cy="608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4595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CBB5DC9-7C94-72DD-651F-9E2D57987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158648"/>
            <a:ext cx="10515600" cy="618101"/>
          </a:xfrm>
        </p:spPr>
        <p:txBody>
          <a:bodyPr>
            <a:normAutofit/>
          </a:bodyPr>
          <a:lstStyle/>
          <a:p>
            <a:r>
              <a:rPr lang="en-I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108945F-72F9-C5A7-AC0D-296B808D6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8929" y="983226"/>
            <a:ext cx="10704871" cy="5643716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reveals strong global expansion potential. Targeting high-demand regions, aligning with demographics, and leveraging strengths ensures strategic growth. This approach boosts market presence, enhances dining experiences, and drives sustainable success.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Target underserved regions: Focus on countries with a high demand for restaurants but a limited presence, maximizing growth opportunities.</a:t>
            </a:r>
          </a:p>
          <a:p>
            <a:pPr marL="0" indent="0">
              <a:buNone/>
            </a:pPr>
            <a:endParaRPr lang="en-IN" sz="20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IN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Optimize pricing strategy: Higher-priced restaurants tend to receive better ratings. Choosing a price range between 3–4 ensures financial stability while maintaining quality</a:t>
            </a:r>
          </a:p>
          <a:p>
            <a:pPr marL="0" indent="0">
              <a:buNone/>
            </a:pPr>
            <a:endParaRPr lang="en-IN" sz="20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IN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Expand into untapped markets: Online delivery and table booking present significant growth potential, offering new revenue streams.</a:t>
            </a:r>
          </a:p>
          <a:p>
            <a:pPr marL="0" indent="0">
              <a:buNone/>
            </a:pPr>
            <a:endParaRPr lang="en-IN" sz="20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IN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Enhance cuisine quality and pricing: Maintaining high-quality cuisine and selecting an appropriate price range can boost restaurant ratings and overall success.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9183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73;p18">
            <a:extLst>
              <a:ext uri="{FF2B5EF4-FFF2-40B4-BE49-F238E27FC236}">
                <a16:creationId xmlns="" xmlns:a16="http://schemas.microsoft.com/office/drawing/2014/main" id="{57E15724-7542-426B-6C00-C1E35743786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490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463</TotalTime>
  <Words>1114</Words>
  <Application>Microsoft Office PowerPoint</Application>
  <PresentationFormat>Widescreen</PresentationFormat>
  <Paragraphs>164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Office Theme</vt:lpstr>
      <vt:lpstr>Zomato Restaurant Analysis</vt:lpstr>
      <vt:lpstr>About company</vt:lpstr>
      <vt:lpstr>Business problem statement</vt:lpstr>
      <vt:lpstr>Data Overview</vt:lpstr>
      <vt:lpstr>Approach</vt:lpstr>
      <vt:lpstr>Objective Key Metrics </vt:lpstr>
      <vt:lpstr>Year-wise Restaurant Count </vt:lpstr>
      <vt:lpstr>Country wise Average Raing </vt:lpstr>
      <vt:lpstr>Top 10 Cuisines</vt:lpstr>
      <vt:lpstr>Top 10 Restaurants</vt:lpstr>
      <vt:lpstr>Country wise Restaurant Count </vt:lpstr>
      <vt:lpstr>Country wise Average Cost for two</vt:lpstr>
      <vt:lpstr>Suggestion of countries for expanding</vt:lpstr>
      <vt:lpstr>PowerPoint Presentation</vt:lpstr>
      <vt:lpstr>PowerPoint Presentation</vt:lpstr>
      <vt:lpstr>Visualization</vt:lpstr>
      <vt:lpstr>Visualization</vt:lpstr>
      <vt:lpstr>Visualization </vt:lpstr>
      <vt:lpstr>Cuisine Selection</vt:lpstr>
      <vt:lpstr>Impact of Table booking feature on rating </vt:lpstr>
      <vt:lpstr>Impact of Online Delivery feature on rating 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Restaurant Analysis</dc:title>
  <dc:creator>Arvind</dc:creator>
  <cp:lastModifiedBy>Microsoft account</cp:lastModifiedBy>
  <cp:revision>45</cp:revision>
  <dcterms:created xsi:type="dcterms:W3CDTF">2025-05-18T15:06:46Z</dcterms:created>
  <dcterms:modified xsi:type="dcterms:W3CDTF">2026-02-17T08:16:14Z</dcterms:modified>
</cp:coreProperties>
</file>